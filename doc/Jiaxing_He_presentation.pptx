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98" r:id="rId5"/>
    <p:sldId id="301" r:id="rId6"/>
    <p:sldId id="300" r:id="rId7"/>
    <p:sldId id="302" r:id="rId8"/>
    <p:sldId id="303" r:id="rId9"/>
    <p:sldId id="304" r:id="rId10"/>
    <p:sldId id="305" r:id="rId11"/>
    <p:sldId id="306" r:id="rId12"/>
    <p:sldId id="308" r:id="rId13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6886C-EAA0-4433-AD1E-431050B9C2A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2026/4/22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660F53-F593-4304-9BA9-1C2AC5E1624A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46798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1A2638A-5E4A-4D0D-917D-137EA8DF3340}" type="datetime1">
              <a:rPr lang="en-US" altLang="zh-CN" noProof="0" smtClean="0"/>
              <a:t>4/22/2026</a:t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BCA1830-8ACC-4872-9C09-B98521B5BF71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66119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A1830-8ACC-4872-9C09-B98521B5BF71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154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A1830-8ACC-4872-9C09-B98521B5BF71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3534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 altLang="zh-CN" noProof="0"/>
              <a:t>Click to edit Master title style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altLang="zh-CN" noProof="0"/>
              <a:t>Click to edit Master subtitle style</a:t>
            </a:r>
            <a:endParaRPr lang="zh-CN" altLang="en-US" noProof="0" dirty="0"/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2857C8-8E2F-48E0-8317-80C3BB0076B8}" type="datetime1">
              <a:rPr lang="zh-CN" altLang="en-US" noProof="0" smtClean="0"/>
              <a:t>2026/4/22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noProof="0"/>
              <a:t>Click to edit Master title style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altLang="zh-CN" noProof="0"/>
              <a:t>Click to edit Master text styles</a:t>
            </a:r>
          </a:p>
          <a:p>
            <a:pPr lvl="1" rtl="0"/>
            <a:r>
              <a:rPr lang="en-US" altLang="zh-CN" noProof="0"/>
              <a:t>Second level</a:t>
            </a:r>
          </a:p>
          <a:p>
            <a:pPr lvl="2" rtl="0"/>
            <a:r>
              <a:rPr lang="en-US" altLang="zh-CN" noProof="0"/>
              <a:t>Third level</a:t>
            </a:r>
          </a:p>
          <a:p>
            <a:pPr lvl="3" rtl="0"/>
            <a:r>
              <a:rPr lang="en-US" altLang="zh-CN" noProof="0"/>
              <a:t>Fourth level</a:t>
            </a:r>
          </a:p>
          <a:p>
            <a:pPr lvl="4" rtl="0"/>
            <a:r>
              <a:rPr lang="en-US" altLang="zh-CN" noProof="0"/>
              <a:t>Fifth level</a:t>
            </a:r>
            <a:endParaRPr lang="zh-CN" altLang="en-US" noProof="0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FC4F7C-0D89-4D20-BD2E-273FAB0D351B}" type="datetime1">
              <a:rPr lang="zh-CN" altLang="en-US" noProof="0" smtClean="0"/>
              <a:t>2026/4/22</a:t>
            </a:fld>
            <a:endParaRPr lang="zh-CN" altLang="en-US" noProof="0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 altLang="zh-CN" noProof="0"/>
              <a:t>Click to edit Master title style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altLang="zh-CN" noProof="0"/>
              <a:t>Click to edit Master text styles</a:t>
            </a:r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1C8F9BE-F15D-4875-8A71-21DE506DE743}" type="datetime1">
              <a:rPr lang="zh-CN" altLang="en-US" noProof="0" smtClean="0"/>
              <a:t>2026/4/22</a:t>
            </a:fld>
            <a:endParaRPr lang="zh-CN" altLang="en-US" noProof="0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 altLang="zh-CN" noProof="0"/>
              <a:t>Click to edit Master title style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n-US" altLang="zh-CN" noProof="0"/>
              <a:t>Click to edit Master text styles</a:t>
            </a:r>
          </a:p>
          <a:p>
            <a:pPr lvl="1" rtl="0"/>
            <a:r>
              <a:rPr lang="en-US" altLang="zh-CN" noProof="0"/>
              <a:t>Second level</a:t>
            </a:r>
          </a:p>
          <a:p>
            <a:pPr lvl="2" rtl="0"/>
            <a:r>
              <a:rPr lang="en-US" altLang="zh-CN" noProof="0"/>
              <a:t>Third level</a:t>
            </a:r>
          </a:p>
          <a:p>
            <a:pPr lvl="3" rtl="0"/>
            <a:r>
              <a:rPr lang="en-US" altLang="zh-CN" noProof="0"/>
              <a:t>Fourth level</a:t>
            </a:r>
          </a:p>
          <a:p>
            <a:pPr lvl="4" rtl="0"/>
            <a:r>
              <a:rPr lang="en-US" altLang="zh-CN" noProof="0"/>
              <a:t>Fifth level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n-US" altLang="zh-CN" noProof="0"/>
              <a:t>Click to edit Master text styles</a:t>
            </a:r>
          </a:p>
          <a:p>
            <a:pPr lvl="1" rtl="0"/>
            <a:r>
              <a:rPr lang="en-US" altLang="zh-CN" noProof="0"/>
              <a:t>Second level</a:t>
            </a:r>
          </a:p>
          <a:p>
            <a:pPr lvl="2" rtl="0"/>
            <a:r>
              <a:rPr lang="en-US" altLang="zh-CN" noProof="0"/>
              <a:t>Third level</a:t>
            </a:r>
          </a:p>
          <a:p>
            <a:pPr lvl="3" rtl="0"/>
            <a:r>
              <a:rPr lang="en-US" altLang="zh-CN" noProof="0"/>
              <a:t>Fourth level</a:t>
            </a:r>
          </a:p>
          <a:p>
            <a:pPr lvl="4" rtl="0"/>
            <a:r>
              <a:rPr lang="en-US" altLang="zh-CN" noProof="0"/>
              <a:t>Fifth level</a:t>
            </a:r>
            <a:endParaRPr lang="zh-CN" altLang="en-US" noProof="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4569D-812C-43C9-AEDA-C2805F48AD2D}" type="datetime1">
              <a:rPr lang="zh-CN" altLang="en-US" noProof="0" smtClean="0"/>
              <a:t>2026/4/22</a:t>
            </a:fld>
            <a:endParaRPr lang="zh-CN" altLang="en-US" noProof="0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10" name="幻灯片编号占位符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 altLang="zh-CN" noProof="0"/>
              <a:t>Click to edit Master title style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n-US" altLang="zh-CN" noProof="0"/>
              <a:t>Click to edit Master text styles</a:t>
            </a:r>
          </a:p>
          <a:p>
            <a:pPr lvl="1" rtl="0"/>
            <a:r>
              <a:rPr lang="en-US" altLang="zh-CN" noProof="0"/>
              <a:t>Second level</a:t>
            </a:r>
          </a:p>
          <a:p>
            <a:pPr lvl="2" rtl="0"/>
            <a:r>
              <a:rPr lang="en-US" altLang="zh-CN" noProof="0"/>
              <a:t>Third level</a:t>
            </a:r>
          </a:p>
          <a:p>
            <a:pPr lvl="3" rtl="0"/>
            <a:r>
              <a:rPr lang="en-US" altLang="zh-CN" noProof="0"/>
              <a:t>Fourth level</a:t>
            </a:r>
          </a:p>
          <a:p>
            <a:pPr lvl="4" rtl="0"/>
            <a:r>
              <a:rPr lang="en-US" altLang="zh-CN" noProof="0"/>
              <a:t>Fifth level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n-US" altLang="zh-CN" noProof="0"/>
              <a:t>Click to edit Master text styles</a:t>
            </a:r>
          </a:p>
          <a:p>
            <a:pPr lvl="1" rtl="0"/>
            <a:r>
              <a:rPr lang="en-US" altLang="zh-CN" noProof="0"/>
              <a:t>Second level</a:t>
            </a:r>
          </a:p>
          <a:p>
            <a:pPr lvl="2" rtl="0"/>
            <a:r>
              <a:rPr lang="en-US" altLang="zh-CN" noProof="0"/>
              <a:t>Third level</a:t>
            </a:r>
          </a:p>
          <a:p>
            <a:pPr lvl="3" rtl="0"/>
            <a:r>
              <a:rPr lang="en-US" altLang="zh-CN" noProof="0"/>
              <a:t>Fourth level</a:t>
            </a:r>
          </a:p>
          <a:p>
            <a:pPr lvl="4" rtl="0"/>
            <a:r>
              <a:rPr lang="en-US" altLang="zh-CN" noProof="0"/>
              <a:t>Fifth level</a:t>
            </a:r>
            <a:endParaRPr lang="zh-CN" altLang="en-US" noProof="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EB871B-E1BA-4B27-BE77-674D42BE52C7}" type="datetime1">
              <a:rPr lang="zh-CN" altLang="en-US" noProof="0" smtClean="0"/>
              <a:t>2026/4/22</a:t>
            </a:fld>
            <a:endParaRPr lang="zh-CN" altLang="en-US" noProof="0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noProof="0"/>
              <a:t>Click to edit Master title style</a:t>
            </a:r>
            <a:endParaRPr lang="zh-CN" altLang="en-US" noProof="0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500292-0B13-449A-87D1-82A13D7C9A1E}" type="datetime1">
              <a:rPr lang="zh-CN" altLang="en-US" noProof="0" smtClean="0"/>
              <a:t>2026/4/22</a:t>
            </a:fld>
            <a:endParaRPr lang="zh-CN" altLang="en-US" noProof="0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79CBCF-27F4-4017-96B9-50FCBE968914}" type="datetime1">
              <a:rPr lang="zh-CN" altLang="en-US" noProof="0" smtClean="0"/>
              <a:t>2026/4/22</a:t>
            </a:fld>
            <a:endParaRPr lang="zh-CN" altLang="en-US" noProof="0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 altLang="zh-CN" noProof="0"/>
              <a:t>Click to edit Master title style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n-US" altLang="zh-CN" noProof="0"/>
              <a:t>Click to edit Master text styles</a:t>
            </a:r>
          </a:p>
          <a:p>
            <a:pPr lvl="1" rtl="0"/>
            <a:r>
              <a:rPr lang="en-US" altLang="zh-CN" noProof="0"/>
              <a:t>Second level</a:t>
            </a:r>
          </a:p>
          <a:p>
            <a:pPr lvl="2" rtl="0"/>
            <a:r>
              <a:rPr lang="en-US" altLang="zh-CN" noProof="0"/>
              <a:t>Third level</a:t>
            </a:r>
          </a:p>
          <a:p>
            <a:pPr lvl="3" rtl="0"/>
            <a:r>
              <a:rPr lang="en-US" altLang="zh-CN" noProof="0"/>
              <a:t>Fourth level</a:t>
            </a:r>
          </a:p>
          <a:p>
            <a:pPr lvl="4" rtl="0"/>
            <a:r>
              <a:rPr lang="en-US" altLang="zh-CN" noProof="0"/>
              <a:t>Fifth level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8B556B2-7512-46EA-A7A3-08797228D7B4}" type="datetime1">
              <a:rPr lang="zh-CN" altLang="en-US" noProof="0" smtClean="0"/>
              <a:t>2026/4/22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altLang="zh-CN" noProof="0"/>
              <a:t>Click icon to add picture</a:t>
            </a:r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 altLang="zh-CN" noProof="0"/>
              <a:t>Click to edit Master title style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7EA549FE-440A-4032-887E-049BFD4F5A41}" type="datetime1">
              <a:rPr lang="zh-CN" altLang="en-US" noProof="0" smtClean="0"/>
              <a:t>2026/4/22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1E8F5E9-7BB5-407B-A6D7-F536C6C1796E}" type="datetime1">
              <a:rPr lang="zh-CN" altLang="en-US" noProof="0" smtClean="0"/>
              <a:t>2026/4/22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A98EE3D-8CD1-4C3F-BD1C-C98C9596463C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长方形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 descr="一张纸的特写，纸上放着一支铅笔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长方形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rtlCol="0" anchor="b">
            <a:normAutofit/>
          </a:bodyPr>
          <a:lstStyle/>
          <a:p>
            <a:r>
              <a:rPr lang="en-US" altLang="zh-CN" sz="3200" dirty="0"/>
              <a:t>Analysis of Review Length and Sentiment</a:t>
            </a:r>
            <a:endParaRPr lang="en-US" altLang="zh-CN" sz="32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rtlCol="0" anchor="t">
            <a:normAutofit/>
          </a:bodyPr>
          <a:lstStyle/>
          <a:p>
            <a:pPr rtl="0">
              <a:lnSpc>
                <a:spcPct val="100000"/>
              </a:lnSpc>
            </a:pP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JiaxinG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He</a:t>
            </a:r>
          </a:p>
        </p:txBody>
      </p:sp>
      <p:cxnSp>
        <p:nvCxnSpPr>
          <p:cNvPr id="37" name="直接连接符​​(S)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长方形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5BEC-71F3-E9FD-B81D-040BC95F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6F8956-9B6E-5DE4-658C-CAC2B0C946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18986"/>
            <a:ext cx="710963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relationship between review length and sentiment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Amazon, IMDb, Steam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length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label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(0: negative; 1: positive)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analysis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 (point-biserial correlation)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62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29" y="258417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CN" sz="4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Data Source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FA16B5-FCC4-F726-0BFF-51A3CECAB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5801319"/>
              </p:ext>
            </p:extLst>
          </p:nvPr>
        </p:nvGraphicFramePr>
        <p:xfrm>
          <a:off x="1272209" y="1949173"/>
          <a:ext cx="9348495" cy="4257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135">
                  <a:extLst>
                    <a:ext uri="{9D8B030D-6E8A-4147-A177-3AD203B41FA5}">
                      <a16:colId xmlns:a16="http://schemas.microsoft.com/office/drawing/2014/main" val="1339076621"/>
                    </a:ext>
                  </a:extLst>
                </a:gridCol>
                <a:gridCol w="1788355">
                  <a:extLst>
                    <a:ext uri="{9D8B030D-6E8A-4147-A177-3AD203B41FA5}">
                      <a16:colId xmlns:a16="http://schemas.microsoft.com/office/drawing/2014/main" val="2787550239"/>
                    </a:ext>
                  </a:extLst>
                </a:gridCol>
                <a:gridCol w="3063100">
                  <a:extLst>
                    <a:ext uri="{9D8B030D-6E8A-4147-A177-3AD203B41FA5}">
                      <a16:colId xmlns:a16="http://schemas.microsoft.com/office/drawing/2014/main" val="740640143"/>
                    </a:ext>
                  </a:extLst>
                </a:gridCol>
                <a:gridCol w="676906">
                  <a:extLst>
                    <a:ext uri="{9D8B030D-6E8A-4147-A177-3AD203B41FA5}">
                      <a16:colId xmlns:a16="http://schemas.microsoft.com/office/drawing/2014/main" val="2580195209"/>
                    </a:ext>
                  </a:extLst>
                </a:gridCol>
                <a:gridCol w="980661">
                  <a:extLst>
                    <a:ext uri="{9D8B030D-6E8A-4147-A177-3AD203B41FA5}">
                      <a16:colId xmlns:a16="http://schemas.microsoft.com/office/drawing/2014/main" val="2192301432"/>
                    </a:ext>
                  </a:extLst>
                </a:gridCol>
                <a:gridCol w="881269">
                  <a:extLst>
                    <a:ext uri="{9D8B030D-6E8A-4147-A177-3AD203B41FA5}">
                      <a16:colId xmlns:a16="http://schemas.microsoft.com/office/drawing/2014/main" val="2965878677"/>
                    </a:ext>
                  </a:extLst>
                </a:gridCol>
                <a:gridCol w="1417069">
                  <a:extLst>
                    <a:ext uri="{9D8B030D-6E8A-4147-A177-3AD203B41FA5}">
                      <a16:colId xmlns:a16="http://schemas.microsoft.com/office/drawing/2014/main" val="2708981622"/>
                    </a:ext>
                  </a:extLst>
                </a:gridCol>
              </a:tblGrid>
              <a:tr h="419834">
                <a:tc>
                  <a:txBody>
                    <a:bodyPr/>
                    <a:lstStyle/>
                    <a:p>
                      <a:r>
                        <a:rPr lang="en-US" altLang="zh-CN" dirty="0"/>
                        <a:t>#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Source URL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Type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Fields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Format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Data Size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169295"/>
                  </a:ext>
                </a:extLst>
              </a:tr>
              <a:tr h="771747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Amazon Fine Food Reviews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https://www.kaggle.com/datasets/snap/amazon-fine-food-reviews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Review, Scoring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csv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500,000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070262"/>
                  </a:ext>
                </a:extLst>
              </a:tr>
              <a:tr h="1003272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IMDB Movie Reviews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https://www.kaggle.com/datasets/lakshmi25npathi/imdb-dataset-of-50k-movie-reviews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Review,</a:t>
                      </a:r>
                    </a:p>
                    <a:p>
                      <a:r>
                        <a:rPr lang="en-US" altLang="zh-CN" dirty="0"/>
                        <a:t>Sentiment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csv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50,000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865340"/>
                  </a:ext>
                </a:extLst>
              </a:tr>
              <a:tr h="540223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Steam Reviews (ID: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2868840)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https://store.steampowered.com/appreviews/2868840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API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Review,</a:t>
                      </a:r>
                    </a:p>
                    <a:p>
                      <a:r>
                        <a:rPr lang="en-US" altLang="zh-CN" dirty="0"/>
                        <a:t>Label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JSON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790709"/>
                  </a:ext>
                </a:extLst>
              </a:tr>
              <a:tr h="540223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Steam Reviews</a:t>
                      </a:r>
                    </a:p>
                    <a:p>
                      <a:r>
                        <a:rPr lang="en-US" altLang="zh-CN" dirty="0"/>
                        <a:t>(ID: 570)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https://store.steampowered.com/appreviews/570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API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Review,</a:t>
                      </a:r>
                    </a:p>
                    <a:p>
                      <a:r>
                        <a:rPr lang="en-US" altLang="zh-CN" dirty="0"/>
                        <a:t>Label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JSON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883619"/>
                  </a:ext>
                </a:extLst>
              </a:tr>
              <a:tr h="540223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Steam Reviews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(ID: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1172470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https://store.steampowered.com/appreviews/1172470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API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Review,</a:t>
                      </a:r>
                    </a:p>
                    <a:p>
                      <a:r>
                        <a:rPr lang="en-US" altLang="zh-CN" dirty="0"/>
                        <a:t>Label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JSON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001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D07C-AD09-5F3C-0869-07C6E1F63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altLang="zh-CN" dirty="0"/>
              <a:t>Results(Amazon)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D8A639-F322-9051-50A0-72516EF687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7280" y="2185499"/>
            <a:ext cx="4639736" cy="3618994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0611CA1-6768-3410-F6D3-D2C77BED2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r>
              <a:rPr lang="en-US" altLang="zh-CN" dirty="0"/>
              <a:t>Correlation: close to 0</a:t>
            </a:r>
          </a:p>
          <a:p>
            <a:r>
              <a:rPr lang="en-US" dirty="0"/>
              <a:t>p-value: &gt; 0.05</a:t>
            </a:r>
          </a:p>
          <a:p>
            <a:r>
              <a:rPr lang="en-US" dirty="0"/>
              <a:t>Not statistically significant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66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FEC6-1FBE-5D7D-72E3-BA56A967B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Results(IMDB)</a:t>
            </a:r>
            <a:endParaRPr lang="zh-CN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D2B050-F5F1-F581-E299-AEDB98BAEB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6963" y="2245590"/>
            <a:ext cx="4640262" cy="349870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8C1FA-EE90-A216-CA7A-EAFD3D4680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/>
              <a:t>Correlation: close to 0</a:t>
            </a:r>
          </a:p>
          <a:p>
            <a:r>
              <a:rPr lang="en-US" altLang="zh-CN" dirty="0"/>
              <a:t>P-value: &gt;0.05</a:t>
            </a:r>
          </a:p>
          <a:p>
            <a:r>
              <a:rPr lang="en-US" altLang="zh-CN" dirty="0"/>
              <a:t>Not statistically significant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3062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D3401-06AA-1F07-65DE-35B3A86C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Results(Steam)</a:t>
            </a:r>
            <a:endParaRPr lang="zh-CN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D58862-79E0-3008-EB17-AE283E6793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1503" y="2120900"/>
            <a:ext cx="4631181" cy="37480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EE83D-2383-FF84-222B-89F96A5376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/>
              <a:t>Correlation: -0.2451</a:t>
            </a:r>
          </a:p>
          <a:p>
            <a:r>
              <a:rPr lang="en-US" altLang="zh-CN" dirty="0"/>
              <a:t>P-value: &lt; 0.05</a:t>
            </a:r>
          </a:p>
          <a:p>
            <a:r>
              <a:rPr lang="en-US" altLang="zh-CN" dirty="0"/>
              <a:t>Longer reviews tend to be more negative.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07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B3B2-A5DA-5F0F-51CF-28C64FE4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Results(Steam)</a:t>
            </a:r>
            <a:endParaRPr lang="zh-CN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1DFEE1-709A-7815-BFFB-E3EE4F369E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63951" y="1955248"/>
            <a:ext cx="4182692" cy="3429441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2EE48B7-5BD2-8303-0320-55A41ADDAD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71108" y="1955248"/>
            <a:ext cx="4132599" cy="3429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CE4857-4F43-5BFD-6F8B-8917A999D95D}"/>
              </a:ext>
            </a:extLst>
          </p:cNvPr>
          <p:cNvSpPr txBox="1"/>
          <p:nvPr/>
        </p:nvSpPr>
        <p:spPr>
          <a:xfrm>
            <a:off x="1530625" y="5602577"/>
            <a:ext cx="8302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User behaviors may be different across platforms. For steam particularly, longer reviews tended to be more negative.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989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34A6-AD44-DBF8-75E8-9D96D3B2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altLang="zh-CN" dirty="0"/>
              <a:t>Challenges</a:t>
            </a:r>
            <a:endParaRPr lang="zh-CN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9729BF4-C28B-F848-5AD0-1FF8C236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Scraping Steam Data:</a:t>
            </a:r>
          </a:p>
          <a:p>
            <a:pPr lvl="1"/>
            <a:r>
              <a:rPr lang="en-US" dirty="0"/>
              <a:t>Languages </a:t>
            </a:r>
          </a:p>
          <a:p>
            <a:pPr lvl="1"/>
            <a:r>
              <a:rPr lang="en-US" altLang="zh-CN" dirty="0"/>
              <a:t>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22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0AE9A2-2525-C818-9039-1A1E3EE3C370}"/>
              </a:ext>
            </a:extLst>
          </p:cNvPr>
          <p:cNvSpPr txBox="1"/>
          <p:nvPr/>
        </p:nvSpPr>
        <p:spPr>
          <a:xfrm>
            <a:off x="3829879" y="2413337"/>
            <a:ext cx="3816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/>
              <a:t>Thank You!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597264651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809_TF22712842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{A8FB8D6A-C494-4A4D-A58C-7043B6C30CAC}TFb63a7776-4452-49b2-8055-21efce632b72184ba3c7_win32-7252295ba16f</Template>
  <TotalTime>314</TotalTime>
  <Words>380</Words>
  <Application>Microsoft Office PowerPoint</Application>
  <PresentationFormat>Widescreen</PresentationFormat>
  <Paragraphs>83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YaHei UI</vt:lpstr>
      <vt:lpstr>Arial</vt:lpstr>
      <vt:lpstr>Calibri</vt:lpstr>
      <vt:lpstr>Franklin Gothic Book</vt:lpstr>
      <vt:lpstr>自定义</vt:lpstr>
      <vt:lpstr>Analysis of Review Length and Sentiment</vt:lpstr>
      <vt:lpstr>Introduction</vt:lpstr>
      <vt:lpstr>Data Source</vt:lpstr>
      <vt:lpstr>Results(Amazon)</vt:lpstr>
      <vt:lpstr>Results(IMDB)</vt:lpstr>
      <vt:lpstr>Results(Steam)</vt:lpstr>
      <vt:lpstr>Results(Steam)</vt:lpstr>
      <vt:lpstr>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Jiaxing He</dc:creator>
  <cp:lastModifiedBy>Jiaxing He</cp:lastModifiedBy>
  <cp:revision>3</cp:revision>
  <dcterms:created xsi:type="dcterms:W3CDTF">2026-04-22T10:03:16Z</dcterms:created>
  <dcterms:modified xsi:type="dcterms:W3CDTF">2026-04-22T19:30:45Z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